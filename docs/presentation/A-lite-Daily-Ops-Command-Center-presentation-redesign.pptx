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7589520" y="-640080"/>
            <a:ext cx="5120640" cy="5120640"/>
          </a:xfrm>
          <a:prstGeom prst="arc">
            <a:avLst/>
          </a:prstGeom>
          <a:solidFill>
            <a:srgbClr val="1F7A75">
              <a:alpha val="72000"/>
            </a:srgbClr>
          </a:solidFill>
          <a:ln w="12700">
            <a:solidFill>
              <a:srgbClr val="1F7A7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600000">
            <a:off x="-1280160" y="4343400"/>
            <a:ext cx="3840480" cy="3840480"/>
          </a:xfrm>
          <a:prstGeom prst="arc">
            <a:avLst/>
          </a:prstGeom>
          <a:solidFill>
            <a:srgbClr val="F59E0B">
              <a:alpha val="64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" y="640080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D9FFFA"/>
          </a:solidFill>
          <a:ln w="12700">
            <a:solidFill>
              <a:srgbClr val="D9FF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708660"/>
            <a:ext cx="20665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CODEBASE-FIRST PRESENTATION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13232" y="1170432"/>
            <a:ext cx="6492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A-lite Daily Ops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Command Center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49808" y="2670048"/>
            <a:ext cx="6720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6EEF7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ระบบจัดการงานปฏิบัติการประจำวันสำหรับทีมดูแลห้องคอมของมหาวิทยาลัย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49808" y="3931920"/>
            <a:ext cx="3154680" cy="1051560"/>
          </a:xfrm>
          <a:prstGeom prst="roundRect">
            <a:avLst>
              <a:gd name="adj" fmla="val 4783"/>
            </a:avLst>
          </a:prstGeom>
          <a:solidFill>
            <a:srgbClr val="20384D"/>
          </a:solidFill>
          <a:ln w="9525">
            <a:solidFill>
              <a:srgbClr val="2F4B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14223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499616" y="4078224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บทบาทผู้ใช้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499616" y="437083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7B2C1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Staff / Supervisor / Admin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361688" y="3931920"/>
            <a:ext cx="3154680" cy="1051560"/>
          </a:xfrm>
          <a:prstGeom prst="roundRect">
            <a:avLst>
              <a:gd name="adj" fmla="val 4783"/>
            </a:avLst>
          </a:prstGeom>
          <a:solidFill>
            <a:srgbClr val="20384D"/>
          </a:solidFill>
          <a:ln w="9525">
            <a:solidFill>
              <a:srgbClr val="2F4B6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414223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111496" y="4078224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กระบวนการหลัก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111496" y="437083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7B2C1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User, Template, Checklist, Incident, Dashboard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973568" y="3931920"/>
            <a:ext cx="3154680" cy="1051560"/>
          </a:xfrm>
          <a:prstGeom prst="roundRect">
            <a:avLst>
              <a:gd name="adj" fmla="val 4783"/>
            </a:avLst>
          </a:prstGeom>
          <a:solidFill>
            <a:srgbClr val="20384D"/>
          </a:solidFill>
          <a:ln w="9525">
            <a:solidFill>
              <a:srgbClr val="2F4B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38160" y="414223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723376" y="4078224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ตารางหลัก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723376" y="437083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7B2C1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Schema truth จาก migrations/models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49808" y="571500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E8F2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ที่มาและความสำคัญ | ขอบเขต | เครื่องมือ | Fishbone &amp; Flowchart | DFD | Data Model | Data Dictionary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BACKGROUND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66928" y="621792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ที่มาและความสำคัญ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549640" y="45720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A-lite Daily Ops Command Center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325880"/>
            <a:ext cx="3703320" cy="4526280"/>
          </a:xfrm>
          <a:prstGeom prst="roundRect">
            <a:avLst>
              <a:gd name="adj" fmla="val 1358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9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2688" y="16642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ปัญหาเริ่มจากข้อมูลกระจัดกระจาย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32688" y="2423160"/>
            <a:ext cx="3090672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300" dirty="0">
                <a:solidFill>
                  <a:srgbClr val="17212B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งานตรวจห้องคอมเกิดซ้ำทุกวันตามช่วงเปิดห้อง ตรวจระหว่างวัน และปิดห้อง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ข้อมูลเดิมอยู่ในกระดาษ ไฟล์แยก หรือข้อความสนทนา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ผู้ดูแลต้องรวบรวมข้อมูลเองก่อนเห็นสถานะของวัน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32688" y="4892040"/>
            <a:ext cx="438912" cy="43891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4969764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!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81328" y="4910328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12B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ผลกระทบ: ติดตามย้อนหลังยาก ตัดสินใจช้า และเสี่ยงต่อการตกหล่นของงาน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00600" y="1417320"/>
            <a:ext cx="2743200" cy="868680"/>
          </a:xfrm>
          <a:prstGeom prst="roundRect">
            <a:avLst>
              <a:gd name="adj" fmla="val 5789"/>
            </a:avLst>
          </a:prstGeom>
          <a:solidFill>
            <a:srgbClr val="FEE2E2"/>
          </a:solidFill>
          <a:ln w="9525">
            <a:solidFill>
              <a:srgbClr val="FEE2E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65192" y="1627632"/>
            <a:ext cx="438912" cy="438912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65192" y="1705356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550408" y="158191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7212B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กระดาษ / ไฟล์แยก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5550408" y="18562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B7A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ข้อมูลไม่รวมศูนย์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035040" y="2331720"/>
            <a:ext cx="256032" cy="292608"/>
          </a:xfrm>
          <a:prstGeom prst="downArrow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00600" y="2834640"/>
            <a:ext cx="2743200" cy="868680"/>
          </a:xfrm>
          <a:prstGeom prst="roundRect">
            <a:avLst>
              <a:gd name="adj" fmla="val 5789"/>
            </a:avLst>
          </a:prstGeom>
          <a:solidFill>
            <a:srgbClr val="FFF7E6"/>
          </a:solidFill>
          <a:ln w="9525">
            <a:solidFill>
              <a:srgbClr val="FFF7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65192" y="3044952"/>
            <a:ext cx="438912" cy="43891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65192" y="3122676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550408" y="299923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7212B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บริบทหน้างานไม่ชัด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5550408" y="327355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B7A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ห้อง เวลา ผู้รับผิดชอบ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035040" y="3749040"/>
            <a:ext cx="256032" cy="292608"/>
          </a:xfrm>
          <a:prstGeom prst="downArrow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0600" y="4251960"/>
            <a:ext cx="2743200" cy="868680"/>
          </a:xfrm>
          <a:prstGeom prst="roundRect">
            <a:avLst>
              <a:gd name="adj" fmla="val 5789"/>
            </a:avLst>
          </a:prstGeom>
          <a:solidFill>
            <a:srgbClr val="EFF6FF"/>
          </a:solidFill>
          <a:ln w="9525">
            <a:solidFill>
              <a:srgbClr val="EFF6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65192" y="4462272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65192" y="4539996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50408" y="441655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7212B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ทบทวนย้อนหลังยาก</a:t>
            </a:r>
            <a:endParaRPr lang="en-US" sz="1120" dirty="0"/>
          </a:p>
        </p:txBody>
      </p:sp>
      <p:sp>
        <p:nvSpPr>
          <p:cNvPr id="29" name="Text 27"/>
          <p:cNvSpPr/>
          <p:nvPr/>
        </p:nvSpPr>
        <p:spPr>
          <a:xfrm>
            <a:off x="5550408" y="469087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B7A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หลักฐานไม่ครบถ้วน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8001000" y="1417320"/>
            <a:ext cx="3383280" cy="3675888"/>
          </a:xfrm>
          <a:prstGeom prst="roundRect">
            <a:avLst>
              <a:gd name="adj" fmla="val 1486"/>
            </a:avLst>
          </a:prstGeom>
          <a:solidFill>
            <a:srgbClr val="172A3A"/>
          </a:solidFill>
          <a:ln w="9525">
            <a:solidFill>
              <a:srgbClr val="172A3A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9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321040" y="17830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เป้าหมายของระบบใหม่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8302752" y="2359152"/>
            <a:ext cx="260604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220" dirty="0">
                <a:solidFill>
                  <a:srgbClr val="E8F1FA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รวม checklist, incident และ dashboard ในระบบเดียว</a:t>
            </a:r>
            <a:endParaRPr lang="en-US" sz="1220" dirty="0"/>
          </a:p>
          <a:p>
            <a:r>
              <a:rPr lang="en-US" sz="1220" dirty="0">
                <a:solidFill>
                  <a:srgbClr val="E8F1FA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ทำให้บทบาท Staff, Supervisor และ Admin ชัดเจน</a:t>
            </a:r>
            <a:endParaRPr lang="en-US" sz="1220" dirty="0"/>
          </a:p>
          <a:p>
            <a:r>
              <a:rPr lang="en-US" sz="1220" dirty="0">
                <a:solidFill>
                  <a:srgbClr val="E8F1FA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เก็บข้อมูลให้ตรวจสอบย้อนหลังและใช้เป็นหลักฐานได้</a:t>
            </a:r>
            <a:endParaRPr lang="en-US" sz="1220" dirty="0"/>
          </a:p>
        </p:txBody>
      </p:sp>
      <p:sp>
        <p:nvSpPr>
          <p:cNvPr id="33" name="Shape 31"/>
          <p:cNvSpPr/>
          <p:nvPr/>
        </p:nvSpPr>
        <p:spPr>
          <a:xfrm>
            <a:off x="8321040" y="4343400"/>
            <a:ext cx="2331720" cy="310896"/>
          </a:xfrm>
          <a:prstGeom prst="roundRect">
            <a:avLst>
              <a:gd name="adj" fmla="val 23529"/>
            </a:avLst>
          </a:prstGeom>
          <a:solidFill>
            <a:srgbClr val="D9FFFA"/>
          </a:solidFill>
          <a:ln w="12700">
            <a:solidFill>
              <a:srgbClr val="D9FFF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30768" y="4411980"/>
            <a:ext cx="2112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Internal web application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1228832" y="635508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SCOPE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66928" y="621792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ขอบเขตโครงงาน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549640" y="45720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A-lite Daily Ops Command Center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325880"/>
            <a:ext cx="3310128" cy="1600200"/>
          </a:xfrm>
          <a:prstGeom prst="roundRect">
            <a:avLst>
              <a:gd name="adj" fmla="val 3143"/>
            </a:avLst>
          </a:prstGeom>
          <a:solidFill>
            <a:srgbClr val="ECFDF3"/>
          </a:solidFill>
          <a:ln w="9525">
            <a:solidFill>
              <a:srgbClr val="ECFDF3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1636776"/>
            <a:ext cx="438912" cy="43891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71450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99616" y="16002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A3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Staff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499616" y="1938528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7212B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ตรวจเช็กประจำวัน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17212B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แจ้งเหตุผิดปกติ</a:t>
            </a:r>
            <a:endParaRPr lang="en-US" sz="1130" dirty="0"/>
          </a:p>
        </p:txBody>
      </p:sp>
      <p:sp>
        <p:nvSpPr>
          <p:cNvPr id="12" name="Shape 10"/>
          <p:cNvSpPr/>
          <p:nvPr/>
        </p:nvSpPr>
        <p:spPr>
          <a:xfrm>
            <a:off x="4480560" y="1325880"/>
            <a:ext cx="3310128" cy="1600200"/>
          </a:xfrm>
          <a:prstGeom prst="roundRect">
            <a:avLst>
              <a:gd name="adj" fmla="val 3143"/>
            </a:avLst>
          </a:prstGeom>
          <a:solidFill>
            <a:srgbClr val="EFF6FF"/>
          </a:solidFill>
          <a:ln w="9525">
            <a:solidFill>
              <a:srgbClr val="EFF6FF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36592" y="1636776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36592" y="171450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21808" y="16002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Supervisor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321808" y="1938528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7212B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ติดตามแดชบอร์ด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17212B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อัปเดตสถานะ incident</a:t>
            </a:r>
            <a:endParaRPr lang="en-US" sz="1130" dirty="0"/>
          </a:p>
        </p:txBody>
      </p:sp>
      <p:sp>
        <p:nvSpPr>
          <p:cNvPr id="17" name="Shape 15"/>
          <p:cNvSpPr/>
          <p:nvPr/>
        </p:nvSpPr>
        <p:spPr>
          <a:xfrm>
            <a:off x="8302752" y="1325880"/>
            <a:ext cx="3310128" cy="1600200"/>
          </a:xfrm>
          <a:prstGeom prst="roundRect">
            <a:avLst>
              <a:gd name="adj" fmla="val 3143"/>
            </a:avLst>
          </a:prstGeom>
          <a:solidFill>
            <a:srgbClr val="F4F0FF"/>
          </a:solidFill>
          <a:ln w="9525">
            <a:solidFill>
              <a:srgbClr val="F4F0FF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558784" y="1636776"/>
            <a:ext cx="438912" cy="438912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58784" y="171450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0" y="16002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28D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Admin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9144000" y="1938528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7212B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จัดการผู้ใช้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17212B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จัดการแม่แบบ checklist</a:t>
            </a:r>
            <a:endParaRPr lang="en-US" sz="1130" dirty="0"/>
          </a:p>
        </p:txBody>
      </p:sp>
      <p:sp>
        <p:nvSpPr>
          <p:cNvPr id="22" name="Shape 20"/>
          <p:cNvSpPr/>
          <p:nvPr/>
        </p:nvSpPr>
        <p:spPr>
          <a:xfrm rot="5400000">
            <a:off x="1828800" y="3401568"/>
            <a:ext cx="914400" cy="502920"/>
          </a:xfrm>
          <a:prstGeom prst="chevron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5400000">
            <a:off x="5641848" y="3401568"/>
            <a:ext cx="914400" cy="502920"/>
          </a:xfrm>
          <a:prstGeom prst="chevron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5400000">
            <a:off x="9464040" y="3401568"/>
            <a:ext cx="914400" cy="502920"/>
          </a:xfrm>
          <a:prstGeom prst="chevron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60120" y="4041648"/>
            <a:ext cx="10287000" cy="1133856"/>
          </a:xfrm>
          <a:prstGeom prst="roundRect">
            <a:avLst>
              <a:gd name="adj" fmla="val 4435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9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234440" y="43251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7212B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ขอบเขตที่ระบบรองรับ</a:t>
            </a:r>
            <a:endParaRPr lang="en-US" sz="1320" dirty="0"/>
          </a:p>
        </p:txBody>
      </p:sp>
      <p:sp>
        <p:nvSpPr>
          <p:cNvPr id="27" name="Text 25"/>
          <p:cNvSpPr/>
          <p:nvPr/>
        </p:nvSpPr>
        <p:spPr>
          <a:xfrm>
            <a:off x="3154680" y="4315968"/>
            <a:ext cx="7543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Daily checklist • Incident queue/history • Dashboard • User management • Checklist template management • Printable recap/summary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234440" y="4764024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B7A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ไม่รวม: public signup, notification เต็มรูปแบบ, approval workflow, machine registry, analytics warehouse, mobile app แยก, AI/copilot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1228832" y="635508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TOOLS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66928" y="621792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เครื่องมือที่ใช้จาก Codebase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549640" y="45720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A-lite Daily Ops Command Center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325880"/>
            <a:ext cx="5074920" cy="1572768"/>
          </a:xfrm>
          <a:prstGeom prst="roundRect">
            <a:avLst>
              <a:gd name="adj" fmla="val 3198"/>
            </a:avLst>
          </a:prstGeom>
          <a:solidFill>
            <a:srgbClr val="E8EEF5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8368" y="1325880"/>
            <a:ext cx="109728" cy="1572768"/>
          </a:xfrm>
          <a:prstGeom prst="rect">
            <a:avLst/>
          </a:prstGeom>
          <a:solidFill>
            <a:srgbClr val="172A3A"/>
          </a:solidFill>
          <a:ln w="12700">
            <a:solidFill>
              <a:srgbClr val="172A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15819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Backend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78408" y="1984248"/>
            <a:ext cx="4343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7212B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PHP 8.4\nLaravel 13\nLaravel Fortify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6236208" y="1325880"/>
            <a:ext cx="5074920" cy="1572768"/>
          </a:xfrm>
          <a:prstGeom prst="roundRect">
            <a:avLst>
              <a:gd name="adj" fmla="val 3198"/>
            </a:avLst>
          </a:prstGeom>
          <a:solidFill>
            <a:srgbClr val="E6F6F4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36208" y="1325880"/>
            <a:ext cx="109728" cy="157276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56248" y="15819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56248" y="1984248"/>
            <a:ext cx="4343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7212B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Livewire 4\nFlux 2\nTailwind CSS + Vite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658368" y="3383280"/>
            <a:ext cx="5074920" cy="1572768"/>
          </a:xfrm>
          <a:prstGeom prst="roundRect">
            <a:avLst>
              <a:gd name="adj" fmla="val 3198"/>
            </a:avLst>
          </a:prstGeom>
          <a:solidFill>
            <a:srgbClr val="F4F0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8368" y="3383280"/>
            <a:ext cx="109728" cy="157276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8408" y="36393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8D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78408" y="4041648"/>
            <a:ext cx="4343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7212B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Laravel migrations\nEloquent models\nSQLite dev database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6236208" y="3383280"/>
            <a:ext cx="5074920" cy="1572768"/>
          </a:xfrm>
          <a:prstGeom prst="roundRect">
            <a:avLst>
              <a:gd name="adj" fmla="val 3198"/>
            </a:avLst>
          </a:prstGeom>
          <a:solidFill>
            <a:srgbClr val="FFF7E6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36208" y="3383280"/>
            <a:ext cx="109728" cy="15727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56248" y="36393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Quality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56248" y="4041648"/>
            <a:ext cx="4343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7212B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Pest / Browser tests\nLaravel Pint\nComposer + NPM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841248" y="5513832"/>
            <a:ext cx="10515600" cy="484632"/>
          </a:xfrm>
          <a:prstGeom prst="roundRect">
            <a:avLst>
              <a:gd name="adj" fmla="val 10377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78992" y="5678424"/>
            <a:ext cx="10012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evidence: composer.json, package.json, routes/web.php, app/Livewire, app/Models, database/migrations, tests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228832" y="635508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FISHBONE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66928" y="621792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ก้างปลา: สาเหตุและผลกระทบของระบบเดิม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549640" y="45720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A-lite Daily Ops Command Center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07008"/>
            <a:ext cx="7452360" cy="5102352"/>
          </a:xfrm>
          <a:prstGeom prst="roundRect">
            <a:avLst>
              <a:gd name="adj" fmla="val 986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9000"/>
              </a:srgbClr>
            </a:outerShdw>
          </a:effectLst>
        </p:spPr>
      </p:sp>
      <p:pic>
        <p:nvPicPr>
          <p:cNvPr id="8" name="Image 0" descr="/home/home_pc/projects/Daily Ops Command Center/docs/chapter3-diagrams/ch3-01-cause-effect-f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870" y="1316736"/>
            <a:ext cx="6893357" cy="470001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1248" y="6062472"/>
            <a:ext cx="7086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6B7A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Cause and Effect Analysis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8366760" y="1325880"/>
            <a:ext cx="3063240" cy="4828032"/>
          </a:xfrm>
          <a:prstGeom prst="roundRect">
            <a:avLst>
              <a:gd name="adj" fmla="val 1642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9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668512" y="1627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12B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จุดที่ควรเล่า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686800" y="2121408"/>
            <a:ext cx="2331720" cy="3108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150" dirty="0">
                <a:solidFill>
                  <a:srgbClr val="17212B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แสดงปัญหาจากวิธีทำงานเดิม เครื่องมือ ข้อมูล คน และการติดตาม</a:t>
            </a:r>
            <a:endParaRPr lang="en-US" sz="1150" dirty="0"/>
          </a:p>
          <a:p>
            <a:r>
              <a:rPr lang="en-US" sz="1150" dirty="0">
                <a:solidFill>
                  <a:srgbClr val="17212B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ใช้เป็น slide เปิดประเด็นก่อนเข้าสู่ระบบงานใหม่</a:t>
            </a:r>
            <a:endParaRPr lang="en-US" sz="1150" dirty="0"/>
          </a:p>
          <a:p>
            <a:r>
              <a:rPr lang="en-US" sz="1150" dirty="0">
                <a:solidFill>
                  <a:srgbClr val="17212B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ถ้ารายละเอียดแน่น ให้เปิดภาพในเล่มประกอบ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11228832" y="635508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SYSTEM FLOW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66928" y="621792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Flowchart: ภาพรวมระบบงานใหม่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549640" y="45720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A-lite Daily Ops Command Center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07008"/>
            <a:ext cx="7452360" cy="5102352"/>
          </a:xfrm>
          <a:prstGeom prst="roundRect">
            <a:avLst>
              <a:gd name="adj" fmla="val 986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9000"/>
              </a:srgbClr>
            </a:outerShdw>
          </a:effectLst>
        </p:spPr>
      </p:sp>
      <p:pic>
        <p:nvPicPr>
          <p:cNvPr id="8" name="Image 0" descr="/home/home_pc/projects/Daily Ops Command Center/docs/chapter3-diagrams/ch3-02-system-flowchart-v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84542" y="1316736"/>
            <a:ext cx="3600012" cy="470001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1248" y="6062472"/>
            <a:ext cx="7086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6B7A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System Flowchart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8366760" y="1325880"/>
            <a:ext cx="3063240" cy="4828032"/>
          </a:xfrm>
          <a:prstGeom prst="roundRect">
            <a:avLst>
              <a:gd name="adj" fmla="val 1642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9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668512" y="1627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12B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จุดที่ควรเล่า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686800" y="2121408"/>
            <a:ext cx="2331720" cy="3108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150" dirty="0">
                <a:solidFill>
                  <a:srgbClr val="17212B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เริ่มจาก Staff เลือกห้องและช่วงงาน</a:t>
            </a:r>
            <a:endParaRPr lang="en-US" sz="1150" dirty="0"/>
          </a:p>
          <a:p>
            <a:r>
              <a:rPr lang="en-US" sz="1150" dirty="0">
                <a:solidFill>
                  <a:srgbClr val="17212B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ระบบตรวจ checklist ที่พร้อมใช้งานและรอบการตรวจของวัน</a:t>
            </a:r>
            <a:endParaRPr lang="en-US" sz="1150" dirty="0"/>
          </a:p>
          <a:p>
            <a:r>
              <a:rPr lang="en-US" sz="1150" dirty="0">
                <a:solidFill>
                  <a:srgbClr val="17212B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Supervisor/Admin ติดตามผ่านแดชบอร์ดและ incident queue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11228832" y="635508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CONTEXT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66928" y="621792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Context Diagram: ขอบเขตของระบบ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549640" y="45720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A-lite Daily Ops Command Center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07008"/>
            <a:ext cx="7452360" cy="5102352"/>
          </a:xfrm>
          <a:prstGeom prst="roundRect">
            <a:avLst>
              <a:gd name="adj" fmla="val 986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9000"/>
              </a:srgbClr>
            </a:outerShdw>
          </a:effectLst>
        </p:spPr>
      </p:sp>
      <p:pic>
        <p:nvPicPr>
          <p:cNvPr id="8" name="Image 0" descr="/home/home_pc/projects/Daily Ops Command Center/docs/chapter3-diagrams/ch3-03-context-diagram-v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0536" y="1316736"/>
            <a:ext cx="6768023" cy="470001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1248" y="6062472"/>
            <a:ext cx="7086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6B7A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Context Diagram Level 0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8366760" y="1325880"/>
            <a:ext cx="3063240" cy="4828032"/>
          </a:xfrm>
          <a:prstGeom prst="roundRect">
            <a:avLst>
              <a:gd name="adj" fmla="val 1642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9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668512" y="1627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12B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จุดที่ควรเล่า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686800" y="2121408"/>
            <a:ext cx="2331720" cy="3108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150" dirty="0">
                <a:solidFill>
                  <a:srgbClr val="17212B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External entities มีเพียง Staff, Supervisor และ Admin</a:t>
            </a:r>
            <a:endParaRPr lang="en-US" sz="1150" dirty="0"/>
          </a:p>
          <a:p>
            <a:r>
              <a:rPr lang="en-US" sz="1150" dirty="0">
                <a:solidFill>
                  <a:srgbClr val="17212B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ไม่แสดง subprocess หรือ data store ภายใน</a:t>
            </a:r>
            <a:endParaRPr lang="en-US" sz="1150" dirty="0"/>
          </a:p>
          <a:p>
            <a:r>
              <a:rPr lang="en-US" sz="1150" dirty="0">
                <a:solidFill>
                  <a:srgbClr val="17212B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เน้นข้อมูลเข้า-ออกระดับสูงของระบบกลาง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11228832" y="635508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DFD LEVEL 1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66928" y="621792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DFD Level 1: กระบวนการหลัก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549640" y="45720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A-lite Daily Ops Command Center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07008"/>
            <a:ext cx="7452360" cy="5102352"/>
          </a:xfrm>
          <a:prstGeom prst="roundRect">
            <a:avLst>
              <a:gd name="adj" fmla="val 986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9000"/>
              </a:srgbClr>
            </a:outerShdw>
          </a:effectLst>
        </p:spPr>
      </p:sp>
      <p:pic>
        <p:nvPicPr>
          <p:cNvPr id="8" name="Image 0" descr="/home/home_pc/projects/Daily Ops Command Center/docs/chapter3-diagrams/ch3-04-dfd-level1-v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316736"/>
            <a:ext cx="7050024" cy="470001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1248" y="6062472"/>
            <a:ext cx="7086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6B7A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Data Flow Diagram Level 1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8366760" y="1325880"/>
            <a:ext cx="3063240" cy="4828032"/>
          </a:xfrm>
          <a:prstGeom prst="roundRect">
            <a:avLst>
              <a:gd name="adj" fmla="val 1642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9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668512" y="1627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12B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จุดที่ควรเล่า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686800" y="2121408"/>
            <a:ext cx="2331720" cy="3108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150" dirty="0">
                <a:solidFill>
                  <a:srgbClr val="17212B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แบ่งระบบเป็น 5 processes ตาม codebase และ diagrams</a:t>
            </a:r>
            <a:endParaRPr lang="en-US" sz="1150" dirty="0"/>
          </a:p>
          <a:p>
            <a:r>
              <a:rPr lang="en-US" sz="1150" dirty="0">
                <a:solidFill>
                  <a:srgbClr val="17212B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Data stores D1-D6 สอดคล้องกับ schema truth</a:t>
            </a:r>
            <a:endParaRPr lang="en-US" sz="1150" dirty="0"/>
          </a:p>
          <a:p>
            <a:r>
              <a:rPr lang="en-US" sz="1150" dirty="0">
                <a:solidFill>
                  <a:srgbClr val="17212B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เหมาะสำหรับเล่าภาพรวมก่อนลง Level 2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11228832" y="635508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DFD LEVEL 2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66928" y="621792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DFD Level 2: กระบวนการที่ควรเปิดประกอบ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549640" y="45720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A-lite Daily Ops Command Center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21792" y="1325880"/>
            <a:ext cx="3438144" cy="4498848"/>
          </a:xfrm>
          <a:prstGeom prst="roundRect">
            <a:avLst>
              <a:gd name="adj" fmla="val 1463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9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77824" y="160020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0F766E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3.0 ตรวจเช็กประจำวัน</a:t>
            </a:r>
            <a:endParaRPr lang="en-US" sz="1320" dirty="0"/>
          </a:p>
        </p:txBody>
      </p:sp>
      <p:pic>
        <p:nvPicPr>
          <p:cNvPr id="9" name="Image 0" descr="/home/home_pc/projects/Daily Ops Command Center/docs/chapter3-diagrams/ch3-05-dfd-level2-process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2072640"/>
            <a:ext cx="3108960" cy="2072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4480560"/>
            <a:ext cx="2816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7212B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ตรวจสอบผู้ใช้ เลือกห้อง/ช่วงงาน สร้างหรือใช้ checklist run และบันทึกผล</a:t>
            </a:r>
            <a:endParaRPr lang="en-US" sz="940" dirty="0"/>
          </a:p>
        </p:txBody>
      </p:sp>
      <p:sp>
        <p:nvSpPr>
          <p:cNvPr id="11" name="Shape 8"/>
          <p:cNvSpPr/>
          <p:nvPr/>
        </p:nvSpPr>
        <p:spPr>
          <a:xfrm>
            <a:off x="1033272" y="5212080"/>
            <a:ext cx="2560320" cy="310896"/>
          </a:xfrm>
          <a:prstGeom prst="roundRect">
            <a:avLst>
              <a:gd name="adj" fmla="val 23529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43000" y="5280660"/>
            <a:ext cx="23408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D6B7A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เปิดเล่มเมื่อถามเส้นข้อมูลละเอียด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489704" y="1325880"/>
            <a:ext cx="3438144" cy="4498848"/>
          </a:xfrm>
          <a:prstGeom prst="roundRect">
            <a:avLst>
              <a:gd name="adj" fmla="val 1463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9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745736" y="160020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0F766E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4.0 จัดการเหตุผิดปกติ</a:t>
            </a:r>
            <a:endParaRPr lang="en-US" sz="1320" dirty="0"/>
          </a:p>
        </p:txBody>
      </p:sp>
      <p:pic>
        <p:nvPicPr>
          <p:cNvPr id="15" name="Image 1" descr="/home/home_pc/projects/Daily Ops Command Center/docs/chapter3-diagrams/ch3-06-dfd-level2-process-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2049087"/>
            <a:ext cx="3108960" cy="211974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782312" y="4480560"/>
            <a:ext cx="2816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7212B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Staff สร้าง incident ส่วน Supervisor/Admin อัปเดตสถานะและติดตาม</a:t>
            </a:r>
            <a:endParaRPr lang="en-US" sz="940" dirty="0"/>
          </a:p>
        </p:txBody>
      </p:sp>
      <p:sp>
        <p:nvSpPr>
          <p:cNvPr id="17" name="Shape 13"/>
          <p:cNvSpPr/>
          <p:nvPr/>
        </p:nvSpPr>
        <p:spPr>
          <a:xfrm>
            <a:off x="4901184" y="5212080"/>
            <a:ext cx="2560320" cy="310896"/>
          </a:xfrm>
          <a:prstGeom prst="roundRect">
            <a:avLst>
              <a:gd name="adj" fmla="val 23529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010912" y="5280660"/>
            <a:ext cx="23408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D6B7A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เปิดเล่มเมื่อถามเส้นข้อมูลละเอียด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8357616" y="1325880"/>
            <a:ext cx="3438144" cy="4498848"/>
          </a:xfrm>
          <a:prstGeom prst="roundRect">
            <a:avLst>
              <a:gd name="adj" fmla="val 1463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9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8613648" y="160020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0F766E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5.0 ติดตามภาพรวม</a:t>
            </a:r>
            <a:endParaRPr lang="en-US" sz="1320" dirty="0"/>
          </a:p>
        </p:txBody>
      </p:sp>
      <p:pic>
        <p:nvPicPr>
          <p:cNvPr id="21" name="Image 2" descr="/home/home_pc/projects/Daily Ops Command Center/docs/chapter3-diagrams/ch3-07-dfd-level2-process-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08" y="2137410"/>
            <a:ext cx="3108960" cy="19431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650224" y="4480560"/>
            <a:ext cx="2816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7212B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อ่าน D4/D5/D6 เพื่อสร้าง dashboard, history และ summary</a:t>
            </a:r>
            <a:endParaRPr lang="en-US" sz="940" dirty="0"/>
          </a:p>
        </p:txBody>
      </p:sp>
      <p:sp>
        <p:nvSpPr>
          <p:cNvPr id="23" name="Shape 18"/>
          <p:cNvSpPr/>
          <p:nvPr/>
        </p:nvSpPr>
        <p:spPr>
          <a:xfrm>
            <a:off x="8769096" y="5212080"/>
            <a:ext cx="2560320" cy="310896"/>
          </a:xfrm>
          <a:prstGeom prst="roundRect">
            <a:avLst>
              <a:gd name="adj" fmla="val 23529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8878824" y="5280660"/>
            <a:ext cx="23408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D6B7A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เปิดเล่มเมื่อถามเส้นข้อมูลละเอียด</a:t>
            </a:r>
            <a:endParaRPr lang="en-US" sz="850" dirty="0"/>
          </a:p>
        </p:txBody>
      </p:sp>
      <p:sp>
        <p:nvSpPr>
          <p:cNvPr id="25" name="Text 20"/>
          <p:cNvSpPr/>
          <p:nvPr/>
        </p:nvSpPr>
        <p:spPr>
          <a:xfrm>
            <a:off x="11228832" y="635508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DATA MODEL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66928" y="621792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Data Model: ERD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549640" y="45720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A-lite Daily Ops Command Center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07008"/>
            <a:ext cx="7452360" cy="5102352"/>
          </a:xfrm>
          <a:prstGeom prst="roundRect">
            <a:avLst>
              <a:gd name="adj" fmla="val 986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9000"/>
              </a:srgbClr>
            </a:outerShdw>
          </a:effectLst>
        </p:spPr>
      </p:sp>
      <p:pic>
        <p:nvPicPr>
          <p:cNvPr id="8" name="Image 0" descr="/home/home_pc/projects/Daily Ops Command Center/docs/chapter3-diagrams/ch3-08-erd-f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378" y="1316736"/>
            <a:ext cx="6926339" cy="470001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1248" y="6062472"/>
            <a:ext cx="7086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6B7A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Entity Relationship Diagram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8366760" y="1325880"/>
            <a:ext cx="3063240" cy="4828032"/>
          </a:xfrm>
          <a:prstGeom prst="roundRect">
            <a:avLst>
              <a:gd name="adj" fmla="val 1642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9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668512" y="1627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12B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จุดที่ควรเล่า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686800" y="2121408"/>
            <a:ext cx="2331720" cy="3108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150" dirty="0">
                <a:solidFill>
                  <a:srgbClr val="17212B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8 entities ตรงกับ models และ migrations</a:t>
            </a:r>
            <a:endParaRPr lang="en-US" sz="1150" dirty="0"/>
          </a:p>
          <a:p>
            <a:r>
              <a:rPr lang="en-US" sz="1150" dirty="0">
                <a:solidFill>
                  <a:srgbClr val="17212B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แยกกลุ่ม checklist และ incident ชัดเจน</a:t>
            </a:r>
            <a:endParaRPr lang="en-US" sz="1150" dirty="0"/>
          </a:p>
          <a:p>
            <a:r>
              <a:rPr lang="en-US" sz="1150" dirty="0">
                <a:solidFill>
                  <a:srgbClr val="17212B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ERD ย่อบาง auth fields เพื่อให้อ่านง่าย ส่วน Data Dictionary แสดงครบ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11228832" y="635508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DATA DICTIONARY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66928" y="621792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Data Dictionary: สรุปจาก schema truth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549640" y="45720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A-lite Daily Ops Command Center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808" y="1389888"/>
            <a:ext cx="3246120" cy="3611880"/>
          </a:xfrm>
          <a:prstGeom prst="roundRect">
            <a:avLst>
              <a:gd name="adj" fmla="val 1549"/>
            </a:avLst>
          </a:prstGeom>
          <a:solidFill>
            <a:srgbClr val="EFF6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9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78408" y="170078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30" b="1" dirty="0">
                <a:solidFill>
                  <a:srgbClr val="2563EB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ผู้ใช้และพื้นที่</a:t>
            </a:r>
            <a:endParaRPr lang="en-US" sz="1430" dirty="0"/>
          </a:p>
        </p:txBody>
      </p:sp>
      <p:sp>
        <p:nvSpPr>
          <p:cNvPr id="9" name="Shape 7"/>
          <p:cNvSpPr/>
          <p:nvPr/>
        </p:nvSpPr>
        <p:spPr>
          <a:xfrm>
            <a:off x="978408" y="2176272"/>
            <a:ext cx="2743200" cy="292608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2244852"/>
            <a:ext cx="2423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978408" y="2615184"/>
            <a:ext cx="2743200" cy="292608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2683764"/>
            <a:ext cx="2423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rooms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4480560" y="1389888"/>
            <a:ext cx="3246120" cy="3611880"/>
          </a:xfrm>
          <a:prstGeom prst="roundRect">
            <a:avLst>
              <a:gd name="adj" fmla="val 1549"/>
            </a:avLst>
          </a:prstGeom>
          <a:solidFill>
            <a:srgbClr val="E6F6F4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9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09160" y="170078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30" b="1" dirty="0">
                <a:solidFill>
                  <a:srgbClr val="0F766E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Checklist</a:t>
            </a:r>
            <a:endParaRPr lang="en-US" sz="1430" dirty="0"/>
          </a:p>
        </p:txBody>
      </p:sp>
      <p:sp>
        <p:nvSpPr>
          <p:cNvPr id="15" name="Shape 13"/>
          <p:cNvSpPr/>
          <p:nvPr/>
        </p:nvSpPr>
        <p:spPr>
          <a:xfrm>
            <a:off x="4709160" y="2176272"/>
            <a:ext cx="2743200" cy="292608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73752" y="2244852"/>
            <a:ext cx="2423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checklist_templates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4709160" y="2615184"/>
            <a:ext cx="2743200" cy="292608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73752" y="2683764"/>
            <a:ext cx="2423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checklist_items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4709160" y="3054096"/>
            <a:ext cx="2743200" cy="292608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73752" y="3122676"/>
            <a:ext cx="2423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checklist_runs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4709160" y="3493008"/>
            <a:ext cx="2743200" cy="292608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73752" y="3561588"/>
            <a:ext cx="2423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checklist_run_items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8211312" y="1389888"/>
            <a:ext cx="3246120" cy="3611880"/>
          </a:xfrm>
          <a:prstGeom prst="roundRect">
            <a:avLst>
              <a:gd name="adj" fmla="val 1549"/>
            </a:avLst>
          </a:prstGeom>
          <a:solidFill>
            <a:srgbClr val="FFF7E6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9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439912" y="170078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30" b="1" dirty="0">
                <a:solidFill>
                  <a:srgbClr val="F59E0B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Incident</a:t>
            </a:r>
            <a:endParaRPr lang="en-US" sz="1430" dirty="0"/>
          </a:p>
        </p:txBody>
      </p:sp>
      <p:sp>
        <p:nvSpPr>
          <p:cNvPr id="25" name="Shape 23"/>
          <p:cNvSpPr/>
          <p:nvPr/>
        </p:nvSpPr>
        <p:spPr>
          <a:xfrm>
            <a:off x="8439912" y="2176272"/>
            <a:ext cx="2743200" cy="292608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04504" y="2244852"/>
            <a:ext cx="2423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incidents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8439912" y="2615184"/>
            <a:ext cx="2743200" cy="292608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04504" y="2683764"/>
            <a:ext cx="2423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incident_activities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932688" y="5394960"/>
            <a:ext cx="10195560" cy="621792"/>
          </a:xfrm>
          <a:prstGeom prst="roundRect">
            <a:avLst>
              <a:gd name="adj" fmla="val 8088"/>
            </a:avLst>
          </a:prstGeom>
          <a:solidFill>
            <a:srgbClr val="172A3A"/>
          </a:solidFill>
          <a:ln w="9525">
            <a:solidFill>
              <a:srgbClr val="172A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98448" y="5586984"/>
            <a:ext cx="9464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Data Dictionary ในเล่มแสดง Attribute, Description, Type, Constraint และ Null ครบทุกตารางตาม migrations/models</a:t>
            </a:r>
            <a:endParaRPr lang="en-US" sz="1120" dirty="0"/>
          </a:p>
        </p:txBody>
      </p:sp>
      <p:sp>
        <p:nvSpPr>
          <p:cNvPr id="31" name="Text 29"/>
          <p:cNvSpPr/>
          <p:nvPr/>
        </p:nvSpPr>
        <p:spPr>
          <a:xfrm>
            <a:off x="11228832" y="635508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IMPLEMENTATION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66928" y="621792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ผลลัพธ์ที่ยืนยันจากระบบจริง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549640" y="45720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A-lite Daily Ops Command Center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960120" y="1261872"/>
            <a:ext cx="10287000" cy="658368"/>
          </a:xfrm>
          <a:prstGeom prst="roundRect">
            <a:avLst>
              <a:gd name="adj" fmla="val 7639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234440" y="1371600"/>
            <a:ext cx="438912" cy="438912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4440" y="1449324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74520" y="1426464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8D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Authentication + Roles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43400" y="1426464"/>
            <a:ext cx="6080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7212B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แยก route ตาม Staff, Supervisor และ Admin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960120" y="2157984"/>
            <a:ext cx="10287000" cy="658368"/>
          </a:xfrm>
          <a:prstGeom prst="roundRect">
            <a:avLst>
              <a:gd name="adj" fmla="val 7639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234440" y="2267712"/>
            <a:ext cx="438912" cy="43891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34440" y="2345436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74520" y="2322576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Daily Checklist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343400" y="2322576"/>
            <a:ext cx="6080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7212B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เลือกห้อง/ช่วงงาน สร้างหรือใช้ checklist run และบันทึกผล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960120" y="3054096"/>
            <a:ext cx="10287000" cy="658368"/>
          </a:xfrm>
          <a:prstGeom prst="roundRect">
            <a:avLst>
              <a:gd name="adj" fmla="val 7639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234440" y="3163824"/>
            <a:ext cx="438912" cy="43891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34440" y="324154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874520" y="3218688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Incident Management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43400" y="3218688"/>
            <a:ext cx="6080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7212B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สร้าง incident แนบหลักฐาน อัปเดตสถานะ เจ้าของ และวันติดตาม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960120" y="3950208"/>
            <a:ext cx="10287000" cy="658368"/>
          </a:xfrm>
          <a:prstGeom prst="roundRect">
            <a:avLst>
              <a:gd name="adj" fmla="val 7639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9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234440" y="4059936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34440" y="413766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874520" y="411480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Dashboard + History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343400" y="4114800"/>
            <a:ext cx="6080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7212B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สรุปสถานะงาน คิวปัญหา ประวัติ checklist/incident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960120" y="4846320"/>
            <a:ext cx="10287000" cy="658368"/>
          </a:xfrm>
          <a:prstGeom prst="roundRect">
            <a:avLst>
              <a:gd name="adj" fmla="val 7639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9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234440" y="4956048"/>
            <a:ext cx="438912" cy="43891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34440" y="5033772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874520" y="501091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Printable Evidence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343400" y="5010912"/>
            <a:ext cx="6080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7212B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Checklist recap และ incident summary สำหรับทบทวน</a:t>
            </a:r>
            <a:endParaRPr lang="en-US" sz="1080" dirty="0"/>
          </a:p>
        </p:txBody>
      </p:sp>
      <p:sp>
        <p:nvSpPr>
          <p:cNvPr id="32" name="Text 30"/>
          <p:cNvSpPr/>
          <p:nvPr/>
        </p:nvSpPr>
        <p:spPr>
          <a:xfrm>
            <a:off x="11228832" y="635508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7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7589520" y="-640080"/>
            <a:ext cx="5120640" cy="5120640"/>
          </a:xfrm>
          <a:prstGeom prst="arc">
            <a:avLst/>
          </a:prstGeom>
          <a:solidFill>
            <a:srgbClr val="1F7A75">
              <a:alpha val="72000"/>
            </a:srgbClr>
          </a:solidFill>
          <a:ln w="12700">
            <a:solidFill>
              <a:srgbClr val="1F7A7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600000">
            <a:off x="-1280160" y="4343400"/>
            <a:ext cx="3840480" cy="3840480"/>
          </a:xfrm>
          <a:prstGeom prst="arc">
            <a:avLst/>
          </a:prstGeom>
          <a:solidFill>
            <a:srgbClr val="F59E0B">
              <a:alpha val="64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7772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สรุปสำหรับการนำเสนอ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41248" y="1920240"/>
            <a:ext cx="3246120" cy="1920240"/>
          </a:xfrm>
          <a:prstGeom prst="roundRect">
            <a:avLst>
              <a:gd name="adj" fmla="val 2619"/>
            </a:avLst>
          </a:prstGeom>
          <a:solidFill>
            <a:srgbClr val="20384D"/>
          </a:solidFill>
          <a:ln w="9525">
            <a:solidFill>
              <a:srgbClr val="2F4B6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" y="2240280"/>
            <a:ext cx="438912" cy="43891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318004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15568" y="2779776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รวมศูนย์ข้อมูล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15568" y="3182112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A7B2C1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ลดการกระจายของกระดาษ ไฟล์แยก และข้อความสนทนา</a:t>
            </a:r>
            <a:endParaRPr lang="en-US" sz="970" dirty="0"/>
          </a:p>
        </p:txBody>
      </p:sp>
      <p:sp>
        <p:nvSpPr>
          <p:cNvPr id="10" name="Shape 8"/>
          <p:cNvSpPr/>
          <p:nvPr/>
        </p:nvSpPr>
        <p:spPr>
          <a:xfrm>
            <a:off x="4590288" y="1920240"/>
            <a:ext cx="3246120" cy="1920240"/>
          </a:xfrm>
          <a:prstGeom prst="roundRect">
            <a:avLst>
              <a:gd name="adj" fmla="val 2619"/>
            </a:avLst>
          </a:prstGeom>
          <a:solidFill>
            <a:srgbClr val="20384D"/>
          </a:solidFill>
          <a:ln w="9525">
            <a:solidFill>
              <a:srgbClr val="2F4B6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64608" y="2240280"/>
            <a:ext cx="438912" cy="43891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64608" y="2318004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64608" y="2779776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ทำงานตามบทบาท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64608" y="3182112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A7B2C1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Staff ทำงานหน้างาน Supervisor/Admin ติดตามและดูแลระบบ</a:t>
            </a:r>
            <a:endParaRPr lang="en-US" sz="970" dirty="0"/>
          </a:p>
        </p:txBody>
      </p:sp>
      <p:sp>
        <p:nvSpPr>
          <p:cNvPr id="15" name="Shape 13"/>
          <p:cNvSpPr/>
          <p:nvPr/>
        </p:nvSpPr>
        <p:spPr>
          <a:xfrm>
            <a:off x="8339328" y="1920240"/>
            <a:ext cx="3246120" cy="1920240"/>
          </a:xfrm>
          <a:prstGeom prst="roundRect">
            <a:avLst>
              <a:gd name="adj" fmla="val 2619"/>
            </a:avLst>
          </a:prstGeom>
          <a:solidFill>
            <a:srgbClr val="20384D"/>
          </a:solidFill>
          <a:ln w="9525">
            <a:solidFill>
              <a:srgbClr val="2F4B6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13648" y="2240280"/>
            <a:ext cx="438912" cy="43891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13648" y="2318004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13648" y="2779776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ตรวจสอบย้อนหลังได้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13648" y="3182112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A7B2C1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ข้อมูล checklist, incident และ activity log ใช้ทบทวนเป็นหลักฐานได้</a:t>
            </a:r>
            <a:endParaRPr lang="en-US" sz="970" dirty="0"/>
          </a:p>
        </p:txBody>
      </p:sp>
      <p:sp>
        <p:nvSpPr>
          <p:cNvPr id="20" name="Text 18"/>
          <p:cNvSpPr/>
          <p:nvPr/>
        </p:nvSpPr>
        <p:spPr>
          <a:xfrm>
            <a:off x="960120" y="4892040"/>
            <a:ext cx="10195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E6EEF7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แนวทางพัฒนาต่อ: notification พื้นฐาน, การพิมพ์/ส่งออกสรุปรายงานตามช่วงเวลา, mobile-friendly workflow และ test coverage เพิ่มเติม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228832" y="635508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Tha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Daily Ops Command Center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A-lite Daily Ops Command Center Presentation Redesign</dc:title>
  <dc:subject>Codebase-first thesis presentation</dc:subject>
  <dc:creator>A-lite Daily Ops Command Center</dc:creator>
  <cp:lastModifiedBy>A-lite Daily Ops Command Center</cp:lastModifiedBy>
  <cp:revision>1</cp:revision>
  <dcterms:created xsi:type="dcterms:W3CDTF">2026-05-01T01:50:29Z</dcterms:created>
  <dcterms:modified xsi:type="dcterms:W3CDTF">2026-05-01T01:50:29Z</dcterms:modified>
</cp:coreProperties>
</file>